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6" r:id="rId10"/>
    <p:sldId id="264"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sz="3200" dirty="0"/>
              <a:t>Convex Optimization in Machine</a:t>
            </a:r>
            <a:r>
              <a:rPr lang="en-US" sz="3200" dirty="0"/>
              <a:t> </a:t>
            </a:r>
            <a:r>
              <a:rPr sz="3200" dirty="0"/>
              <a:t>Learning</a:t>
            </a:r>
          </a:p>
        </p:txBody>
      </p:sp>
      <p:sp>
        <p:nvSpPr>
          <p:cNvPr id="3" name="Subtitle 2"/>
          <p:cNvSpPr>
            <a:spLocks noGrp="1"/>
          </p:cNvSpPr>
          <p:nvPr>
            <p:ph type="subTitle" idx="1"/>
          </p:nvPr>
        </p:nvSpPr>
        <p:spPr/>
        <p:txBody>
          <a:bodyPr>
            <a:normAutofit fontScale="85000" lnSpcReduction="20000"/>
          </a:bodyPr>
          <a:lstStyle/>
          <a:p>
            <a:r>
              <a:rPr dirty="0"/>
              <a:t>Presented </a:t>
            </a:r>
            <a:r>
              <a:rPr lang="en-US" dirty="0"/>
              <a:t>by</a:t>
            </a:r>
          </a:p>
          <a:p>
            <a:r>
              <a:rPr lang="en-US" dirty="0"/>
              <a:t>Danday Venkata Nara Shiva Pavan</a:t>
            </a:r>
            <a:endParaRPr dirty="0"/>
          </a:p>
          <a:p>
            <a:r>
              <a:rPr dirty="0"/>
              <a:t>Roll No: </a:t>
            </a:r>
            <a:r>
              <a:rPr lang="en-US" dirty="0"/>
              <a:t>17</a:t>
            </a:r>
            <a:endParaRPr dirty="0"/>
          </a:p>
          <a:p>
            <a:r>
              <a:rPr dirty="0"/>
              <a:t>B.Sc. (Data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25217"/>
            <a:ext cx="8229600" cy="4800946"/>
          </a:xfrm>
        </p:spPr>
        <p:txBody>
          <a:bodyPr/>
          <a:lstStyle/>
          <a:p>
            <a:pPr marL="0" indent="0">
              <a:buNone/>
              <a:defRPr sz="2200"/>
            </a:pPr>
            <a:r>
              <a:rPr lang="en-US" sz="2800" b="1" dirty="0"/>
              <a:t>Introduction</a:t>
            </a:r>
          </a:p>
          <a:p>
            <a:pPr marL="0" indent="0">
              <a:buNone/>
              <a:defRPr sz="2200"/>
            </a:pPr>
            <a:r>
              <a:rPr lang="en-US" dirty="0"/>
              <a:t>
1. Optimization means finding the best possible solution to a problem.
2. In Machine Learning, models learn by reducing errors called the loss function.
3. Convex optimization helps find the minimum loss efficiently.
It plays an important role in training many machine learning models.</a:t>
            </a:r>
            <a:r>
              <a:rPr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609" y="1287669"/>
            <a:ext cx="8229600" cy="1974574"/>
          </a:xfrm>
        </p:spPr>
        <p:txBody>
          <a:bodyPr/>
          <a:lstStyle/>
          <a:p>
            <a:r>
              <a:rPr sz="2800" b="1" dirty="0"/>
              <a:t>What is Convex Optimization?</a:t>
            </a:r>
          </a:p>
          <a:p>
            <a:endParaRPr dirty="0"/>
          </a:p>
        </p:txBody>
      </p:sp>
      <p:sp>
        <p:nvSpPr>
          <p:cNvPr id="3" name="Content Placeholder 2"/>
          <p:cNvSpPr>
            <a:spLocks noGrp="1"/>
          </p:cNvSpPr>
          <p:nvPr>
            <p:ph idx="1"/>
          </p:nvPr>
        </p:nvSpPr>
        <p:spPr>
          <a:xfrm>
            <a:off x="457200" y="2274956"/>
            <a:ext cx="8229600" cy="2813879"/>
          </a:xfrm>
        </p:spPr>
        <p:txBody>
          <a:bodyPr/>
          <a:lstStyle/>
          <a:p>
            <a:pPr>
              <a:defRPr sz="2200"/>
            </a:pPr>
            <a:r>
              <a:rPr lang="en-US" dirty="0"/>
              <a:t>Convex optimization is an optimization problem where the objective function and feasible region are convex.
It guarantees a single global minimum.
Unlike non-convex optimization, it does not have multiple local minima.
This makes it reliable and easier to solve.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32383"/>
            <a:ext cx="8229600" cy="2902226"/>
          </a:xfrm>
        </p:spPr>
        <p:txBody>
          <a:bodyPr/>
          <a:lstStyle/>
          <a:p>
            <a:pPr>
              <a:defRPr sz="2200"/>
            </a:pPr>
            <a:r>
              <a:rPr lang="en-US" dirty="0"/>
              <a:t>Convex Set: A line joining any two points remains inside the set.
Convex Function: A bowl-shaped function with one global minimum.
Objective Function: The function that needs to be minimized.
Constraints: Conditions that the solution must satisfy.</a:t>
            </a:r>
            <a:endParaRPr dirty="0"/>
          </a:p>
        </p:txBody>
      </p:sp>
      <p:sp>
        <p:nvSpPr>
          <p:cNvPr id="2" name="TextBox 1">
            <a:extLst>
              <a:ext uri="{FF2B5EF4-FFF2-40B4-BE49-F238E27FC236}">
                <a16:creationId xmlns:a16="http://schemas.microsoft.com/office/drawing/2014/main" id="{5DE54BB5-A6CC-3758-CDC0-FA36438E2FE8}"/>
              </a:ext>
            </a:extLst>
          </p:cNvPr>
          <p:cNvSpPr txBox="1"/>
          <p:nvPr/>
        </p:nvSpPr>
        <p:spPr>
          <a:xfrm>
            <a:off x="271669" y="1466788"/>
            <a:ext cx="5181600" cy="523220"/>
          </a:xfrm>
          <a:prstGeom prst="rect">
            <a:avLst/>
          </a:prstGeom>
          <a:noFill/>
        </p:spPr>
        <p:txBody>
          <a:bodyPr wrap="square" rtlCol="0">
            <a:spAutoFit/>
          </a:bodyPr>
          <a:lstStyle/>
          <a:p>
            <a:pPr algn="l"/>
            <a:r>
              <a:rPr lang="en-US" sz="2800" b="1" dirty="0"/>
              <a:t>Mathematical Background</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4782" y="1088257"/>
            <a:ext cx="8229600" cy="1248938"/>
          </a:xfrm>
        </p:spPr>
        <p:txBody>
          <a:bodyPr>
            <a:normAutofit/>
          </a:bodyPr>
          <a:lstStyle/>
          <a:p>
            <a:r>
              <a:rPr sz="2800" b="1" dirty="0"/>
              <a:t>Working </a:t>
            </a:r>
            <a:r>
              <a:rPr lang="en-US" sz="2800" b="1" dirty="0"/>
              <a:t>Process</a:t>
            </a:r>
            <a:endParaRPr sz="2800" b="1" dirty="0"/>
          </a:p>
        </p:txBody>
      </p:sp>
      <p:sp>
        <p:nvSpPr>
          <p:cNvPr id="3" name="Content Placeholder 2"/>
          <p:cNvSpPr>
            <a:spLocks noGrp="1"/>
          </p:cNvSpPr>
          <p:nvPr>
            <p:ph idx="1"/>
          </p:nvPr>
        </p:nvSpPr>
        <p:spPr>
          <a:xfrm>
            <a:off x="457200" y="2173358"/>
            <a:ext cx="8229600" cy="3952806"/>
          </a:xfrm>
        </p:spPr>
        <p:txBody>
          <a:bodyPr/>
          <a:lstStyle/>
          <a:p>
            <a:pPr>
              <a:defRPr sz="2200"/>
            </a:pPr>
            <a:r>
              <a:rPr lang="en-US" dirty="0"/>
              <a:t>Collect training data.
Calculate the loss function.
Apply an optimization algorithm.
Update model parameters repeatedly.
Reach minimum loss.
Use the trained model for prediction.</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5022" y="1693333"/>
            <a:ext cx="8229600" cy="782158"/>
          </a:xfrm>
        </p:spPr>
        <p:txBody>
          <a:bodyPr/>
          <a:lstStyle/>
          <a:p>
            <a:r>
              <a:rPr sz="2800" b="1" dirty="0"/>
              <a:t>Algorithms </a:t>
            </a:r>
            <a:r>
              <a:rPr lang="en-US" sz="2800" b="1" dirty="0"/>
              <a:t>Used</a:t>
            </a:r>
            <a:endParaRPr sz="2800" b="1" dirty="0"/>
          </a:p>
          <a:p>
            <a:endParaRPr dirty="0"/>
          </a:p>
        </p:txBody>
      </p:sp>
      <p:sp>
        <p:nvSpPr>
          <p:cNvPr id="3" name="Content Placeholder 2"/>
          <p:cNvSpPr>
            <a:spLocks noGrp="1"/>
          </p:cNvSpPr>
          <p:nvPr>
            <p:ph idx="1"/>
          </p:nvPr>
        </p:nvSpPr>
        <p:spPr>
          <a:xfrm>
            <a:off x="663222" y="2314222"/>
            <a:ext cx="8023578" cy="3811941"/>
          </a:xfrm>
        </p:spPr>
        <p:txBody>
          <a:bodyPr/>
          <a:lstStyle/>
          <a:p>
            <a:pPr>
              <a:defRPr sz="2200"/>
            </a:pPr>
            <a:r>
              <a:rPr lang="en-US" dirty="0"/>
              <a:t>Gradient Descent: Reduces loss step by step.
Stochastic Gradient Descent (SGD): Uses one or a small batch of data for faster training.
Newton’s Method: Uses second-order information for faster convergence.
Coordinate Descent: Optimizes one variable at a time.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909" y="1939636"/>
            <a:ext cx="8229600" cy="366649"/>
          </a:xfrm>
        </p:spPr>
        <p:txBody>
          <a:bodyPr>
            <a:normAutofit fontScale="90000"/>
          </a:bodyPr>
          <a:lstStyle/>
          <a:p>
            <a:r>
              <a:rPr lang="en-US" sz="2800" b="1" dirty="0"/>
              <a:t>Applications</a:t>
            </a:r>
            <a:endParaRPr sz="2800" b="1" dirty="0"/>
          </a:p>
          <a:p>
            <a:endParaRPr dirty="0"/>
          </a:p>
        </p:txBody>
      </p:sp>
      <p:sp>
        <p:nvSpPr>
          <p:cNvPr id="3" name="Content Placeholder 2"/>
          <p:cNvSpPr>
            <a:spLocks noGrp="1"/>
          </p:cNvSpPr>
          <p:nvPr>
            <p:ph idx="1"/>
          </p:nvPr>
        </p:nvSpPr>
        <p:spPr>
          <a:xfrm>
            <a:off x="457200" y="2147456"/>
            <a:ext cx="8229600" cy="3978708"/>
          </a:xfrm>
        </p:spPr>
        <p:txBody>
          <a:bodyPr/>
          <a:lstStyle/>
          <a:p>
            <a:pPr>
              <a:defRPr sz="2200"/>
            </a:pPr>
            <a:r>
              <a:rPr lang="en-US" dirty="0"/>
              <a:t>Linear Regression
Logistic Regression
Support Vector Machine (SVM)
Ridge Regression
Lasso Regression
These machine learning models use convex optimization to improve prediction accuracy.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0182" y="1801090"/>
            <a:ext cx="8229600" cy="755237"/>
          </a:xfrm>
        </p:spPr>
        <p:txBody>
          <a:bodyPr/>
          <a:lstStyle/>
          <a:p>
            <a:r>
              <a:rPr sz="2800" b="1" dirty="0"/>
              <a:t>Advantages</a:t>
            </a:r>
          </a:p>
          <a:p>
            <a:endParaRPr dirty="0"/>
          </a:p>
        </p:txBody>
      </p:sp>
      <p:sp>
        <p:nvSpPr>
          <p:cNvPr id="3" name="Content Placeholder 2"/>
          <p:cNvSpPr>
            <a:spLocks noGrp="1"/>
          </p:cNvSpPr>
          <p:nvPr>
            <p:ph idx="1"/>
          </p:nvPr>
        </p:nvSpPr>
        <p:spPr>
          <a:xfrm>
            <a:off x="457200" y="2216727"/>
            <a:ext cx="8229600" cy="3909436"/>
          </a:xfrm>
        </p:spPr>
        <p:txBody>
          <a:bodyPr/>
          <a:lstStyle/>
          <a:p>
            <a:pPr>
              <a:defRPr sz="2200"/>
            </a:pPr>
            <a:r>
              <a:rPr lang="en-US" dirty="0"/>
              <a:t>Finds the global optimum.
Faster convergence.
Stable and reliable results.
Efficient optimization algorithms..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1B5BA-DD3E-D9D0-FA56-BF9C582D11A3}"/>
              </a:ext>
            </a:extLst>
          </p:cNvPr>
          <p:cNvSpPr>
            <a:spLocks noGrp="1"/>
          </p:cNvSpPr>
          <p:nvPr>
            <p:ph type="title"/>
          </p:nvPr>
        </p:nvSpPr>
        <p:spPr>
          <a:xfrm>
            <a:off x="0" y="1661145"/>
            <a:ext cx="2312504" cy="911433"/>
          </a:xfrm>
        </p:spPr>
        <p:txBody>
          <a:bodyPr>
            <a:normAutofit/>
          </a:bodyPr>
          <a:lstStyle/>
          <a:p>
            <a:r>
              <a:rPr lang="en-US" sz="2800" b="1" dirty="0"/>
              <a:t>Conclusion</a:t>
            </a:r>
          </a:p>
        </p:txBody>
      </p:sp>
      <p:sp>
        <p:nvSpPr>
          <p:cNvPr id="3" name="Content Placeholder 2">
            <a:extLst>
              <a:ext uri="{FF2B5EF4-FFF2-40B4-BE49-F238E27FC236}">
                <a16:creationId xmlns:a16="http://schemas.microsoft.com/office/drawing/2014/main" id="{F34D86F3-C161-531A-37BF-D91E21864377}"/>
              </a:ext>
            </a:extLst>
          </p:cNvPr>
          <p:cNvSpPr>
            <a:spLocks noGrp="1"/>
          </p:cNvSpPr>
          <p:nvPr>
            <p:ph idx="1"/>
          </p:nvPr>
        </p:nvSpPr>
        <p:spPr>
          <a:xfrm>
            <a:off x="695739" y="2572578"/>
            <a:ext cx="8229600" cy="1712843"/>
          </a:xfrm>
        </p:spPr>
        <p:txBody>
          <a:bodyPr>
            <a:normAutofit/>
          </a:bodyPr>
          <a:lstStyle/>
          <a:p>
            <a:r>
              <a:rPr lang="en-US" sz="1800" dirty="0"/>
              <a:t>Convex optimization is a key part of Machine Learning.</a:t>
            </a:r>
          </a:p>
          <a:p>
            <a:r>
              <a:rPr lang="en-US" sz="1800" dirty="0"/>
              <a:t>It provides efficient and reliable solutions. </a:t>
            </a:r>
          </a:p>
          <a:p>
            <a:r>
              <a:rPr lang="en-US" sz="1800" dirty="0"/>
              <a:t>It forms the foundation of many popular machine learning algorithms.</a:t>
            </a:r>
          </a:p>
        </p:txBody>
      </p:sp>
    </p:spTree>
    <p:extLst>
      <p:ext uri="{BB962C8B-B14F-4D97-AF65-F5344CB8AC3E}">
        <p14:creationId xmlns:p14="http://schemas.microsoft.com/office/powerpoint/2010/main" val="3851478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35250"/>
            <a:ext cx="8229600" cy="1587499"/>
          </a:xfrm>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Convex Optimization in Machine Learning</vt:lpstr>
      <vt:lpstr>PowerPoint Presentation</vt:lpstr>
      <vt:lpstr>What is Convex Optimization? </vt:lpstr>
      <vt:lpstr>PowerPoint Presentation</vt:lpstr>
      <vt:lpstr>Working Process</vt:lpstr>
      <vt:lpstr>Algorithms Used </vt:lpstr>
      <vt:lpstr>Applications </vt:lpstr>
      <vt:lpstr>Advantages </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Calculus in Artificial Intelligence</dc:title>
  <dc:subject/>
  <dc:creator/>
  <cp:keywords/>
  <dc:description>generated using python-pptx</dc:description>
  <cp:lastModifiedBy>Pavan Danday</cp:lastModifiedBy>
  <cp:revision>8</cp:revision>
  <dcterms:created xsi:type="dcterms:W3CDTF">2013-01-27T09:14:16Z</dcterms:created>
  <dcterms:modified xsi:type="dcterms:W3CDTF">2026-08-11T14:12:22Z</dcterms:modified>
  <cp:category/>
</cp:coreProperties>
</file>